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1A5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8A96E"/>
                </a:solidFill>
                <a:latin typeface="Calibri"/>
              </a:rPr>
              <a:t>✦  DINEEASE  ·  FOR RESTAURANTS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FFFFFF"/>
                </a:solidFill>
                <a:latin typeface="Georgia"/>
              </a:rPr>
              <a:t>Fill more tables.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5400" b="1" i="0">
                <a:solidFill>
                  <a:srgbClr val="C8A96E"/>
                </a:solidFill>
                <a:latin typeface="Georgia"/>
              </a:rPr>
              <a:t>Pay one flat fee.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B0C4CC"/>
                </a:solidFill>
                <a:latin typeface="Calibri"/>
              </a:rPr>
              <a:t>The reservation platform built for Cyprus restaurants — plus a customer app that sends diners straight to your door.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0C4CC"/>
                </a:solidFill>
                <a:latin typeface="Calibri"/>
              </a:rPr>
              <a:t>Partner Presentation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Taking bookings in Cyprus is harder than it should be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40280"/>
            <a:ext cx="52578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C8A96E"/>
                </a:solidFill>
                <a:latin typeface="Calibri"/>
              </a:rPr>
              <a:t>📞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Bookings scattered everywhere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0C4CC"/>
                </a:solidFill>
                <a:latin typeface="Calibri"/>
              </a:rPr>
              <a:t>Phone calls, Instagram DMs, WhatsApp and walk-ins — no single view of your night, and double-bookings happen.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2578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468880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C8A96E"/>
                </a:solidFill>
                <a:latin typeface="Calibri"/>
              </a:rPr>
              <a:t>🪑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Empty tables, costly no-shows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0C4CC"/>
                </a:solidFill>
                <a:latin typeface="Calibri"/>
              </a:rPr>
              <a:t>Without reminders or deposits, last-minute no-shows leave covers — and revenue — on the 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97680"/>
            <a:ext cx="52578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526280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C8A96E"/>
                </a:solidFill>
                <a:latin typeface="Calibri"/>
              </a:rPr>
              <a:t>💸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Commission platforms eat margin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0C4CC"/>
                </a:solidFill>
                <a:latin typeface="Calibri"/>
              </a:rPr>
              <a:t>Global booking sites charge a fee for every cover they send. The busier you get, the more you pay.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297680"/>
            <a:ext cx="52578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4526280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C8A96E"/>
                </a:solidFill>
                <a:latin typeface="Calibri"/>
              </a:rPr>
              <a:t>📵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No direct line to diners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0C4CC"/>
                </a:solidFill>
                <a:latin typeface="Calibri"/>
              </a:rPr>
              <a:t>Your guest data sits with someone else, so you can't bring customers back on your own terms.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WHAT IS DINEEASE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One platform. Two sides. Both working for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5120640" cy="3749039"/>
          </a:xfrm>
          <a:prstGeom prst="rect">
            <a:avLst/>
          </a:prstGeom>
          <a:solidFill>
            <a:srgbClr val="0F2D40"/>
          </a:solidFill>
          <a:ln w="1905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4526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8A96E"/>
                </a:solidFill>
                <a:latin typeface="Calibri"/>
              </a:rPr>
              <a:t>🍽  FOR YOUR RESTAURANT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A booking &amp; floor manager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Reservations &amp; waitlist in one dashboard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Visual floorplan calendar of your night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Automatic reminders to cut no-shows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Manage one venue — or your whole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120640" cy="3749039"/>
          </a:xfrm>
          <a:prstGeom prst="rect">
            <a:avLst/>
          </a:prstGeom>
          <a:solidFill>
            <a:srgbClr val="0F2D40"/>
          </a:solidFill>
          <a:ln w="1905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606040"/>
            <a:ext cx="4526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8A96E"/>
                </a:solidFill>
                <a:latin typeface="Calibri"/>
              </a:rPr>
              <a:t>📱  FOR YOUR CUSTOMERS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A discovery &amp; booking app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Diners find you by cuisine, price &amp; distance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See real-time availability for your tables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Book in seconds — no phone call needed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Reviews &amp; favourites keep them coming back</a:t>
            </a:r>
          </a:p>
        </p:txBody>
      </p:sp>
      <p:sp>
        <p:nvSpPr>
          <p:cNvPr id="10" name="Oval 9"/>
          <p:cNvSpPr/>
          <p:nvPr/>
        </p:nvSpPr>
        <p:spPr>
          <a:xfrm>
            <a:off x="5623560" y="3703320"/>
            <a:ext cx="960120" cy="960120"/>
          </a:xfrm>
          <a:prstGeom prst="ellipse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2D40"/>
                </a:solidFill>
                <a:latin typeface="Calibri"/>
              </a:rPr>
              <a:t>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WHAT YOU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Everything you need to run a busy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4140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📅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Reservations &amp; Waitlist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Take, edit and track every booking in one place, with a smart waitlist for peak hours.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44568" y="21945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4140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🗺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Floorplan Calendar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See your whole night at a glance and assign tables to match your real dining room.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66176" y="21945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2208" y="24140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🔔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No-show Protection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Automatic SMS / push reminders — and optional deposits — keep tables full.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2519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4714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Customer App Listing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Your venue featured in the DineEase app, in front of diners searching nearby.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4568" y="42519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44714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📊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Insights &amp; Analytics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Understand covers, peak times and repeat guests to plan staffing and stock.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66176" y="42519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2208" y="44714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🏢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Multi-location Ready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Run two, three or five venues from a single account as you grow.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THE CUSTOMER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6949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We bring the diners to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 i="0">
                <a:solidFill>
                  <a:srgbClr val="F4F1EC"/>
                </a:solidFill>
                <a:latin typeface="Calibri"/>
              </a:rPr>
              <a:t>Unlike booking software you have to fill yourself, DineEase is also a consumer app people open when they're deciding where to eat.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Find. Book. Enjoy. — three taps to a table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Search by cuisine, price and 5–20 km radius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Real-time availability for your venue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Secure in-app payments &amp; confirmations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Reviews and favourites build loyalty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468880"/>
            <a:ext cx="1325880" cy="27157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52760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96E"/>
                </a:solidFill>
                <a:latin typeface="Calibri"/>
              </a:rPr>
              <a:t>WELCOME</a:t>
            </a:r>
          </a:p>
        </p:txBody>
      </p:sp>
      <p:pic>
        <p:nvPicPr>
          <p:cNvPr id="9" name="Picture 8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468880"/>
            <a:ext cx="1325880" cy="2715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52360" y="52760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96E"/>
                </a:solidFill>
                <a:latin typeface="Calibri"/>
              </a:rPr>
              <a:t>FIND</a:t>
            </a:r>
          </a:p>
        </p:txBody>
      </p:sp>
      <p:pic>
        <p:nvPicPr>
          <p:cNvPr id="11" name="Picture 10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0" y="2468880"/>
            <a:ext cx="1325880" cy="2715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9680" y="52760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96E"/>
                </a:solidFill>
                <a:latin typeface="Calibri"/>
              </a:rPr>
              <a:t>BOOK</a:t>
            </a:r>
          </a:p>
        </p:txBody>
      </p:sp>
      <p:pic>
        <p:nvPicPr>
          <p:cNvPr id="13" name="Picture 12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78440" y="2468880"/>
            <a:ext cx="1325880" cy="2715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87000" y="52760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96E"/>
                </a:solidFill>
                <a:latin typeface="Calibri"/>
              </a:rPr>
              <a:t>ENJOY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Live in days, not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447" y="2468880"/>
            <a:ext cx="3383280" cy="283464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98167" y="1965960"/>
            <a:ext cx="1005840" cy="10058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9487" y="324612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C8A96E"/>
                </a:solidFill>
                <a:latin typeface="Georgia"/>
              </a:rPr>
              <a:t>List your venue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B0C4CC"/>
                </a:solidFill>
                <a:latin typeface="Calibri"/>
              </a:rPr>
              <a:t>We set up your profile, floorplan and tables. Your listing goes live in the DineEase app.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4207" y="2468880"/>
            <a:ext cx="3383280" cy="283464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92927" y="1965960"/>
            <a:ext cx="1005840" cy="10058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247" y="324612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C8A96E"/>
                </a:solidFill>
                <a:latin typeface="Georgia"/>
              </a:rPr>
              <a:t>Manage bookings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B0C4CC"/>
                </a:solidFill>
                <a:latin typeface="Calibri"/>
              </a:rPr>
              <a:t>Reservations from the app, your website and phone all land in one simple dashboard.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98967" y="2468880"/>
            <a:ext cx="3383280" cy="283464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87687" y="1965960"/>
            <a:ext cx="1005840" cy="10058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19007" y="324612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C8A96E"/>
                </a:solidFill>
                <a:latin typeface="Georgia"/>
              </a:rPr>
              <a:t>Fill your tables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B0C4CC"/>
                </a:solidFill>
                <a:latin typeface="Calibri"/>
              </a:rPr>
              <a:t>Diners discover and book you; reminders cut no-shows. You just run great service.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SUBSCRIPTION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Georgia"/>
              </a:rPr>
              <a:t>Simple, flat pricing — no commission, 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8A96E"/>
                </a:solidFill>
                <a:latin typeface="Calibri"/>
              </a:rPr>
              <a:t>Annual plans shown (save 20%) · VAT included · cancel anytime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287" y="2331720"/>
            <a:ext cx="2606040" cy="370332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887" y="2743200"/>
            <a:ext cx="214884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Essentials</a:t>
            </a:r>
          </a:p>
          <a:p>
            <a:pPr algn="ctr">
              <a:spcAft>
                <a:spcPts val="0"/>
              </a:spcAft>
            </a:pPr>
            <a:r>
              <a:rPr sz="3800" b="1">
                <a:solidFill>
                  <a:srgbClr val="C8A96E"/>
                </a:solidFill>
                <a:latin typeface="Georgia"/>
              </a:rPr>
              <a:t>€60</a:t>
            </a:r>
            <a:r>
              <a:rPr sz="1400">
                <a:solidFill>
                  <a:srgbClr val="B0C4CC"/>
                </a:solidFill>
                <a:latin typeface="Calibri"/>
              </a:rPr>
              <a:t> /mo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B0C4CC"/>
                </a:solidFill>
                <a:latin typeface="Calibri"/>
              </a:rPr>
              <a:t>€719.90 / yr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1 location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50" b="0" i="1">
                <a:solidFill>
                  <a:srgbClr val="B0C4CC"/>
                </a:solidFill>
                <a:latin typeface="Calibri"/>
              </a:rPr>
              <a:t>or €74.99/mo monthly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All DineEase features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Reservations &amp; waitlist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Floorplan calendar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Customer app listing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2647" y="2331720"/>
            <a:ext cx="2606040" cy="3703320"/>
          </a:xfrm>
          <a:prstGeom prst="rect">
            <a:avLst/>
          </a:prstGeom>
          <a:solidFill>
            <a:srgbClr val="14435E"/>
          </a:solidFill>
          <a:ln w="254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86987" y="2130552"/>
            <a:ext cx="1737360" cy="40233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MOST POPULAR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1247" y="2743200"/>
            <a:ext cx="214884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Duo</a:t>
            </a:r>
          </a:p>
          <a:p>
            <a:pPr algn="ctr">
              <a:spcAft>
                <a:spcPts val="0"/>
              </a:spcAft>
            </a:pPr>
            <a:r>
              <a:rPr sz="3800" b="1">
                <a:solidFill>
                  <a:srgbClr val="C8A96E"/>
                </a:solidFill>
                <a:latin typeface="Georgia"/>
              </a:rPr>
              <a:t>€104</a:t>
            </a:r>
            <a:r>
              <a:rPr sz="1400">
                <a:solidFill>
                  <a:srgbClr val="B0C4CC"/>
                </a:solidFill>
                <a:latin typeface="Calibri"/>
              </a:rPr>
              <a:t> /mo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B0C4CC"/>
                </a:solidFill>
                <a:latin typeface="Calibri"/>
              </a:rPr>
              <a:t>€1,247.90 / yr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Up to 2 locations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50" b="0" i="1">
                <a:solidFill>
                  <a:srgbClr val="B0C4CC"/>
                </a:solidFill>
                <a:latin typeface="Calibri"/>
              </a:rPr>
              <a:t>or €129.99/mo monthly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All DineEase features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Reservations &amp; waitlist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Floorplan calendar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Customer app listing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2331720"/>
            <a:ext cx="2606040" cy="370332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2743200"/>
            <a:ext cx="214884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Group</a:t>
            </a:r>
          </a:p>
          <a:p>
            <a:pPr algn="ctr">
              <a:spcAft>
                <a:spcPts val="0"/>
              </a:spcAft>
            </a:pPr>
            <a:r>
              <a:rPr sz="3800" b="1">
                <a:solidFill>
                  <a:srgbClr val="C8A96E"/>
                </a:solidFill>
                <a:latin typeface="Georgia"/>
              </a:rPr>
              <a:t>€144</a:t>
            </a:r>
            <a:r>
              <a:rPr sz="1400">
                <a:solidFill>
                  <a:srgbClr val="B0C4CC"/>
                </a:solidFill>
                <a:latin typeface="Calibri"/>
              </a:rPr>
              <a:t> /mo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B0C4CC"/>
                </a:solidFill>
                <a:latin typeface="Calibri"/>
              </a:rPr>
              <a:t>€1,727.90 / yr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Up to 3 locations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50" b="0" i="1">
                <a:solidFill>
                  <a:srgbClr val="B0C4CC"/>
                </a:solidFill>
                <a:latin typeface="Calibri"/>
              </a:rPr>
              <a:t>or €179.99/mo monthly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All DineEase features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Reservations &amp; waitlist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Floorplan calendar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Customer app listing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13367" y="2331720"/>
            <a:ext cx="2606040" cy="370332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41967" y="2743200"/>
            <a:ext cx="214884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Portfolio</a:t>
            </a:r>
          </a:p>
          <a:p>
            <a:pPr algn="ctr">
              <a:spcAft>
                <a:spcPts val="0"/>
              </a:spcAft>
            </a:pPr>
            <a:r>
              <a:rPr sz="3800" b="1">
                <a:solidFill>
                  <a:srgbClr val="C8A96E"/>
                </a:solidFill>
                <a:latin typeface="Georgia"/>
              </a:rPr>
              <a:t>€200</a:t>
            </a:r>
            <a:r>
              <a:rPr sz="1400">
                <a:solidFill>
                  <a:srgbClr val="B0C4CC"/>
                </a:solidFill>
                <a:latin typeface="Calibri"/>
              </a:rPr>
              <a:t> /mo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B0C4CC"/>
                </a:solidFill>
                <a:latin typeface="Calibri"/>
              </a:rPr>
              <a:t>€2,399.90 / yr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4–5 locations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50" b="0" i="1">
                <a:solidFill>
                  <a:srgbClr val="B0C4CC"/>
                </a:solidFill>
                <a:latin typeface="Calibri"/>
              </a:rPr>
              <a:t>or €249.99/mo monthly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All DineEase features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Reservations &amp; waitlist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Floorplan calendar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Customer app listing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HOW WE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Built for Cyprus restaurants — not the other way round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74519"/>
          <a:ext cx="10908792" cy="4096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4872"/>
                <a:gridCol w="1700784"/>
                <a:gridCol w="1700784"/>
                <a:gridCol w="1700784"/>
                <a:gridCol w="1700784"/>
                <a:gridCol w="1700784"/>
              </a:tblGrid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F2D40"/>
                          </a:solidFill>
                          <a:latin typeface="Georgia"/>
                        </a:rPr>
                        <a:t>DineEase</a:t>
                      </a:r>
                    </a:p>
                  </a:txBody>
                  <a:tcPr marL="91440" marR="54864" marT="18288" marB="18288" anchor="ctr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Eat App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OpenTable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TheFork / Quandoo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Klisto (CY)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Pricing model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2D40"/>
                          </a:solidFill>
                          <a:latin typeface="Calibri"/>
                        </a:rPr>
                        <a:t>Flat subscription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Flat subscription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Subscription + fees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Commission per cover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Marketplace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Per-cover commission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2D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$1–1.50 / cover*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~€2.60 / guest*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Varies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Restaurant-specialised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2D4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Multi-vertical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 customer app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2D4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Cyprus-focused &amp; EUR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2D40"/>
                          </a:solidFill>
                          <a:latin typeface="Calibri"/>
                        </a:rPr>
                        <a:t>Yes — VAT incl.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No (USD)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No (USD)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Limited in CY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Cost as you grow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2D40"/>
                          </a:solidFill>
                          <a:latin typeface="Calibri"/>
                        </a:rPr>
                        <a:t>Stays flat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Stays flat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Rises per cover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Rises per cover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B0C4CC"/>
                          </a:solidFill>
                          <a:latin typeface="Calibri"/>
                        </a:rPr>
                        <a:t>Varies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0C4CC"/>
                </a:solidFill>
                <a:latin typeface="Calibri"/>
              </a:rPr>
              <a:t>*Competitor pricing from public sources, mid-2026, indicative. OpenTable / TheFork charge per seated guest, so cost rises with every booking.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THE COST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Flat beats commission as you get busy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C8A96E"/>
                </a:solidFill>
                <a:latin typeface="Calibri"/>
              </a:rPr>
              <a:t>Example: a restaurant seating 1,000 booked covers in a month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447" y="2834640"/>
            <a:ext cx="3383280" cy="2651760"/>
          </a:xfrm>
          <a:prstGeom prst="rect">
            <a:avLst/>
          </a:prstGeom>
          <a:solidFill>
            <a:srgbClr val="163A52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447" y="2834640"/>
            <a:ext cx="3383280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3767" y="3200400"/>
            <a:ext cx="28346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Commission platform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≈ €2,600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/month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at ~€2.60 per guest, every month — and it climbs as you grow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4207" y="2834640"/>
            <a:ext cx="3383280" cy="2651760"/>
          </a:xfrm>
          <a:prstGeom prst="rect">
            <a:avLst/>
          </a:prstGeom>
          <a:solidFill>
            <a:srgbClr val="163A52"/>
          </a:solidFill>
          <a:ln w="254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4207" y="2834640"/>
            <a:ext cx="3383280" cy="109728"/>
          </a:xfrm>
          <a:prstGeom prst="rect">
            <a:avLst/>
          </a:prstGeom>
          <a:solidFill>
            <a:srgbClr val="1A5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8527" y="3200400"/>
            <a:ext cx="28346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OpenTable-style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€140 + fees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/month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subscription plus $1–1.50 for every network cover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98967" y="2834640"/>
            <a:ext cx="3383280" cy="2651760"/>
          </a:xfrm>
          <a:prstGeom prst="rect">
            <a:avLst/>
          </a:prstGeom>
          <a:solidFill>
            <a:srgbClr val="163A52"/>
          </a:solidFill>
          <a:ln w="254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98967" y="2834640"/>
            <a:ext cx="3383280" cy="10972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73287" y="3200400"/>
            <a:ext cx="28346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DineEase Duo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8A96E"/>
                </a:solidFill>
                <a:latin typeface="Georgia"/>
              </a:rPr>
              <a:t>€104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/month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flat — VAT included, no per-cover fee, no matter how busy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4F1EC"/>
                </a:solidFill>
                <a:latin typeface="Calibri"/>
              </a:rPr>
              <a:t>With DineEase your cost is predictable. The more diners we send you, the more you save versus commission models.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WHY DINEEASE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The local advantage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40280"/>
            <a:ext cx="5257800" cy="1783080"/>
          </a:xfrm>
          <a:prstGeom prst="rect">
            <a:avLst/>
          </a:prstGeom>
          <a:solidFill>
            <a:srgbClr val="0F2D40"/>
          </a:solidFill>
          <a:ln w="127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514600"/>
            <a:ext cx="46177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C8A96E"/>
                </a:solidFill>
                <a:latin typeface="Georgia"/>
              </a:rPr>
              <a:t>🇨🇾  Made for Cyprus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F4F1EC"/>
                </a:solidFill>
                <a:latin typeface="Calibri"/>
              </a:rPr>
              <a:t>Local team, EUR pricing with VAT included, and support that knows your market.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257800" cy="1783080"/>
          </a:xfrm>
          <a:prstGeom prst="rect">
            <a:avLst/>
          </a:prstGeom>
          <a:solidFill>
            <a:srgbClr val="0F2D40"/>
          </a:solidFill>
          <a:ln w="127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514600"/>
            <a:ext cx="46177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C8A96E"/>
                </a:solidFill>
                <a:latin typeface="Georgia"/>
              </a:rPr>
              <a:t>🚫  Zero commission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F4F1EC"/>
                </a:solidFill>
                <a:latin typeface="Calibri"/>
              </a:rPr>
              <a:t>A flat monthly fee — we never take a cut of your covers or your revenue.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51960"/>
            <a:ext cx="5257800" cy="1783080"/>
          </a:xfrm>
          <a:prstGeom prst="rect">
            <a:avLst/>
          </a:prstGeom>
          <a:solidFill>
            <a:srgbClr val="0F2D40"/>
          </a:solidFill>
          <a:ln w="127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526280"/>
            <a:ext cx="46177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C8A96E"/>
                </a:solidFill>
                <a:latin typeface="Georgia"/>
              </a:rPr>
              <a:t>🤝  You own your guests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F4F1EC"/>
                </a:solidFill>
                <a:latin typeface="Calibri"/>
              </a:rPr>
              <a:t>Your customer data and relationships stay yours, to bring diners back.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251960"/>
            <a:ext cx="5257800" cy="1783080"/>
          </a:xfrm>
          <a:prstGeom prst="rect">
            <a:avLst/>
          </a:prstGeom>
          <a:solidFill>
            <a:srgbClr val="0F2D40"/>
          </a:solidFill>
          <a:ln w="127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526280"/>
            <a:ext cx="46177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C8A96E"/>
                </a:solidFill>
                <a:latin typeface="Georgia"/>
              </a:rPr>
              <a:t>📈  Scales with you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F4F1EC"/>
                </a:solidFill>
                <a:latin typeface="Calibri"/>
              </a:rPr>
              <a:t>From a single bistro to a five-venue group, on one account and one bill.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280160" y="1463040"/>
            <a:ext cx="9601200" cy="4023360"/>
          </a:xfrm>
          <a:prstGeom prst="roundRect">
            <a:avLst/>
          </a:prstGeom>
          <a:solidFill>
            <a:srgbClr val="14435E"/>
          </a:solidFill>
          <a:ln w="1905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920240"/>
            <a:ext cx="85039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Ready to fill more tables?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3063240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4F1EC"/>
                </a:solidFill>
                <a:latin typeface="Calibri"/>
              </a:rPr>
              <a:t>Start with Essentials from €60/mo, or pick the plan that fits your group. No commission, no surprises — VAT included.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2807" y="4160520"/>
            <a:ext cx="2926080" cy="685800"/>
          </a:xfrm>
          <a:prstGeom prst="round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2D40"/>
                </a:solidFill>
                <a:latin typeface="Calibri"/>
              </a:rPr>
              <a:t>Get started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8A96E"/>
                </a:solidFill>
                <a:latin typeface="Calibri"/>
              </a:rPr>
              <a:t>dineeaseapp.com   ·   Find. Book. Enjoy.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