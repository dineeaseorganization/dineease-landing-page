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1A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8A96E"/>
                </a:solidFill>
                <a:latin typeface="Calibri"/>
              </a:rPr>
              <a:t>✦  DINEEASE  ·  FOR RESTAURANTS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Fill more tables.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5400" b="1" i="0">
                <a:solidFill>
                  <a:srgbClr val="C8A96E"/>
                </a:solidFill>
                <a:latin typeface="Georgia"/>
              </a:rPr>
              <a:t>Pay one flat fee.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0C4CC"/>
                </a:solidFill>
                <a:latin typeface="Calibri"/>
              </a:rPr>
              <a:t>The reservation platform built for Cyprus restaurants — plus a customer app that sends diners straight to your door.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C4CC"/>
                </a:solidFill>
                <a:latin typeface="Calibri"/>
              </a:rPr>
              <a:t>Partner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Taking bookings in Cyprus is harder than it should be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82296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52578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C8A96E"/>
                </a:solidFill>
                <a:latin typeface="Calibri"/>
              </a:rPr>
              <a:t>📞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Bookings scattered everywhere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0C4CC"/>
                </a:solidFill>
                <a:latin typeface="Calibri"/>
              </a:rPr>
              <a:t>Phone calls, Instagram DMs, WhatsApp and walk-ins — no single view of your night, and double-bookings happen.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40280"/>
            <a:ext cx="52578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C8A96E"/>
                </a:solidFill>
                <a:latin typeface="Calibri"/>
              </a:rPr>
              <a:t>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Empty tables, costly no-shows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0C4CC"/>
                </a:solidFill>
                <a:latin typeface="Calibri"/>
              </a:rPr>
              <a:t>Without reminders or deposits, last-minute no-shows leave covers — and revenue — on the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97680"/>
            <a:ext cx="52578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C8A96E"/>
                </a:solidFill>
                <a:latin typeface="Calibri"/>
              </a:rPr>
              <a:t>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Commission platforms eat margin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0C4CC"/>
                </a:solidFill>
                <a:latin typeface="Calibri"/>
              </a:rPr>
              <a:t>Global booking sites charge a fee for every cover they send. The busier you get, the more you pay.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297680"/>
            <a:ext cx="52578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526280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C8A96E"/>
                </a:solidFill>
                <a:latin typeface="Calibri"/>
              </a:rPr>
              <a:t>📵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No direct line to diners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0C4CC"/>
                </a:solidFill>
                <a:latin typeface="Calibri"/>
              </a:rPr>
              <a:t>Your guest data sits with someone else, so you can't bring customers back on your own terms.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WHAT IS DINEEASE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One platform. Two sides. Both working for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82296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5120640" cy="3749039"/>
          </a:xfrm>
          <a:prstGeom prst="rect">
            <a:avLst/>
          </a:prstGeom>
          <a:solidFill>
            <a:srgbClr val="0F2D40"/>
          </a:solidFill>
          <a:ln w="1905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4526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C8A96E"/>
                </a:solidFill>
                <a:latin typeface="Calibri"/>
              </a:rPr>
              <a:t>🍽  FOR YOUR RESTAURANT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A booking &amp; floor manager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4F1EC"/>
                </a:solidFill>
                <a:latin typeface="Calibri"/>
              </a:rPr>
              <a:t>✓  Reservations &amp; waitlist in one dashboard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4F1EC"/>
                </a:solidFill>
                <a:latin typeface="Calibri"/>
              </a:rPr>
              <a:t>✓  Visual floorplan calendar of your night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4F1EC"/>
                </a:solidFill>
                <a:latin typeface="Calibri"/>
              </a:rPr>
              <a:t>✓  Automatic reminders to cut no-shows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4F1EC"/>
                </a:solidFill>
                <a:latin typeface="Calibri"/>
              </a:rPr>
              <a:t>✓  Manage one venue — or your whole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286000"/>
            <a:ext cx="5120640" cy="3749039"/>
          </a:xfrm>
          <a:prstGeom prst="rect">
            <a:avLst/>
          </a:prstGeom>
          <a:solidFill>
            <a:srgbClr val="0F2D40"/>
          </a:solidFill>
          <a:ln w="1905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526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C8A96E"/>
                </a:solidFill>
                <a:latin typeface="Calibri"/>
              </a:rPr>
              <a:t>📱  FOR YOUR CUSTOMERS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A discovery &amp; booking app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4F1EC"/>
                </a:solidFill>
                <a:latin typeface="Calibri"/>
              </a:rPr>
              <a:t>✓  Diners find you by cuisine, price &amp; distance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4F1EC"/>
                </a:solidFill>
                <a:latin typeface="Calibri"/>
              </a:rPr>
              <a:t>✓  See real-time availability for your tables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4F1EC"/>
                </a:solidFill>
                <a:latin typeface="Calibri"/>
              </a:rPr>
              <a:t>✓  Book in seconds — no phone call needed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4F1EC"/>
                </a:solidFill>
                <a:latin typeface="Calibri"/>
              </a:rPr>
              <a:t>✓  Reviews &amp; favourites keep them coming back</a:t>
            </a:r>
          </a:p>
        </p:txBody>
      </p:sp>
      <p:sp>
        <p:nvSpPr>
          <p:cNvPr id="10" name="Oval 9"/>
          <p:cNvSpPr/>
          <p:nvPr/>
        </p:nvSpPr>
        <p:spPr>
          <a:xfrm>
            <a:off x="5623560" y="3703320"/>
            <a:ext cx="960120" cy="960120"/>
          </a:xfrm>
          <a:prstGeom prst="ellipse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2D40"/>
                </a:solidFill>
                <a:latin typeface="Calibri"/>
              </a:rPr>
              <a:t>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Everything you need to run a busy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82296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290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14016"/>
            <a:ext cx="291693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C8A96E"/>
                </a:solidFill>
                <a:latin typeface="Calibri"/>
              </a:rPr>
              <a:t>📅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Reservations &amp; Waitlist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0C4CC"/>
                </a:solidFill>
                <a:latin typeface="Calibri"/>
              </a:rPr>
              <a:t>Take, edit and track every booking in one place, with a smart waitlist for peak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194560"/>
            <a:ext cx="34290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414016"/>
            <a:ext cx="291693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C8A96E"/>
                </a:solidFill>
                <a:latin typeface="Calibri"/>
              </a:rPr>
              <a:t>🗺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Floorplan Calendar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0C4CC"/>
                </a:solidFill>
                <a:latin typeface="Calibri"/>
              </a:rPr>
              <a:t>See your whole night at a glance and assign tables to match your real dining room.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66176" y="2194560"/>
            <a:ext cx="34290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2414016"/>
            <a:ext cx="291693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C8A96E"/>
                </a:solidFill>
                <a:latin typeface="Calibri"/>
              </a:rPr>
              <a:t>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No-show Protection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0C4CC"/>
                </a:solidFill>
                <a:latin typeface="Calibri"/>
              </a:rPr>
              <a:t>Automatic SMS / push reminders — and optional deposits — keep tables full.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34290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471416"/>
            <a:ext cx="291693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C8A96E"/>
                </a:solidFill>
                <a:latin typeface="Calibri"/>
              </a:rPr>
              <a:t>📲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Customer App Listing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0C4CC"/>
                </a:solidFill>
                <a:latin typeface="Calibri"/>
              </a:rPr>
              <a:t>Your venue featured in the DineEase app, in front of diners searching nearby.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44568" y="4251960"/>
            <a:ext cx="34290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471416"/>
            <a:ext cx="291693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C8A96E"/>
                </a:solidFill>
                <a:latin typeface="Calibri"/>
              </a:rPr>
              <a:t>📊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Insights &amp; Analytics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0C4CC"/>
                </a:solidFill>
                <a:latin typeface="Calibri"/>
              </a:rPr>
              <a:t>Understand covers, peak times and repeat guests to plan staffing and stock.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4251960"/>
            <a:ext cx="3429000" cy="182880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4471416"/>
            <a:ext cx="291693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C8A96E"/>
                </a:solidFill>
                <a:latin typeface="Calibri"/>
              </a:rPr>
              <a:t>🏢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Multi-location Ready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0C4CC"/>
                </a:solidFill>
                <a:latin typeface="Calibri"/>
              </a:rPr>
              <a:t>Run two, three or five venues from a single account as you grow.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THE CUSTOMER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We bring the diners to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82296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F4F1EC"/>
                </a:solidFill>
                <a:latin typeface="Calibri"/>
              </a:rPr>
              <a:t>Unlike booking software you have to fill yourself, DineEase is also a consumer app people open when they're deciding where to eat.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✦  Find. Book. Enjoy. — three taps to a table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✦  Search by cuisine, price and 5–20 km radius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✦  Real-time availability for your venue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✦  Secure in-app payments &amp; confirmations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✦  Reviews and favourites build loyalty</a:t>
            </a:r>
          </a:p>
        </p:txBody>
      </p:sp>
      <p:pic>
        <p:nvPicPr>
          <p:cNvPr id="7" name="Picture 6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68880"/>
            <a:ext cx="1325880" cy="2715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527608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96E"/>
                </a:solidFill>
                <a:latin typeface="Calibri"/>
              </a:rPr>
              <a:t>WELCOME</a:t>
            </a:r>
          </a:p>
        </p:txBody>
      </p:sp>
      <p:pic>
        <p:nvPicPr>
          <p:cNvPr id="9" name="Picture 8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468880"/>
            <a:ext cx="1325880" cy="2715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527608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96E"/>
                </a:solidFill>
                <a:latin typeface="Calibri"/>
              </a:rPr>
              <a:t>FIND</a:t>
            </a:r>
          </a:p>
        </p:txBody>
      </p:sp>
      <p:pic>
        <p:nvPicPr>
          <p:cNvPr id="11" name="Picture 10" descr="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2468880"/>
            <a:ext cx="1325880" cy="2715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0" y="527608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96E"/>
                </a:solidFill>
                <a:latin typeface="Calibri"/>
              </a:rPr>
              <a:t>BOOK</a:t>
            </a:r>
          </a:p>
        </p:txBody>
      </p:sp>
      <p:pic>
        <p:nvPicPr>
          <p:cNvPr id="13" name="Picture 12" descr="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2468880"/>
            <a:ext cx="1325880" cy="2715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87000" y="527608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96E"/>
                </a:solidFill>
                <a:latin typeface="Calibri"/>
              </a:rPr>
              <a:t>ENJOY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Live in days, not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82296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447" y="2468880"/>
            <a:ext cx="3383280" cy="283464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98167" y="1965960"/>
            <a:ext cx="1005840" cy="10058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487" y="324612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C8A96E"/>
                </a:solidFill>
                <a:latin typeface="Georgia"/>
              </a:rPr>
              <a:t>List your venue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B0C4CC"/>
                </a:solidFill>
                <a:latin typeface="Calibri"/>
              </a:rPr>
              <a:t>We set up your profile, floorplan and tables. Your listing goes live in the DineEase 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207" y="2468880"/>
            <a:ext cx="3383280" cy="283464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92927" y="1965960"/>
            <a:ext cx="1005840" cy="10058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247" y="324612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C8A96E"/>
                </a:solidFill>
                <a:latin typeface="Georgia"/>
              </a:rPr>
              <a:t>Manage bookings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B0C4CC"/>
                </a:solidFill>
                <a:latin typeface="Calibri"/>
              </a:rPr>
              <a:t>Reservations from the app, your website and phone all land in one simple dashboard.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8967" y="2468880"/>
            <a:ext cx="3383280" cy="283464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87687" y="1965960"/>
            <a:ext cx="1005840" cy="10058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9007" y="324612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C8A96E"/>
                </a:solidFill>
                <a:latin typeface="Georgia"/>
              </a:rPr>
              <a:t>Fill your tables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B0C4CC"/>
                </a:solidFill>
                <a:latin typeface="Calibri"/>
              </a:rPr>
              <a:t>Diners discover and book you; reminders cut no-shows. You just run great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SUBSCRIPTION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Simple, flat pricing — no commission, 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A96E"/>
                </a:solidFill>
                <a:latin typeface="Calibri"/>
              </a:rPr>
              <a:t>Annual plans shown (save 20%) · VAT included · cancel anytime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2331720"/>
            <a:ext cx="2606040" cy="370332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887" y="2743200"/>
            <a:ext cx="214884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Essentials</a:t>
            </a:r>
          </a:p>
          <a:p>
            <a:pPr algn="ctr">
              <a:spcAft>
                <a:spcPts val="0"/>
              </a:spcAft>
            </a:pPr>
            <a:r>
              <a:rPr sz="3800" b="1">
                <a:solidFill>
                  <a:srgbClr val="C8A96E"/>
                </a:solidFill>
                <a:latin typeface="Georgia"/>
              </a:rPr>
              <a:t>€60</a:t>
            </a:r>
            <a:r>
              <a:rPr sz="1400">
                <a:solidFill>
                  <a:srgbClr val="B0C4CC"/>
                </a:solidFill>
                <a:latin typeface="Calibri"/>
              </a:rPr>
              <a:t> /mo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B0C4CC"/>
                </a:solidFill>
                <a:latin typeface="Calibri"/>
              </a:rPr>
              <a:t>€719.90 / yr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1 location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B0C4CC"/>
                </a:solidFill>
                <a:latin typeface="Calibri"/>
              </a:rPr>
              <a:t>or €74.99/mo monthly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All DineEase features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Reservations &amp; waitlist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Floorplan calendar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Customer app listing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2647" y="2331720"/>
            <a:ext cx="2606040" cy="3703320"/>
          </a:xfrm>
          <a:prstGeom prst="rect">
            <a:avLst/>
          </a:prstGeom>
          <a:solidFill>
            <a:srgbClr val="14435E"/>
          </a:solidFill>
          <a:ln w="254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86987" y="2130552"/>
            <a:ext cx="1737360" cy="40233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MOST POPULAR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247" y="2743200"/>
            <a:ext cx="214884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Duo</a:t>
            </a:r>
          </a:p>
          <a:p>
            <a:pPr algn="ctr">
              <a:spcAft>
                <a:spcPts val="0"/>
              </a:spcAft>
            </a:pPr>
            <a:r>
              <a:rPr sz="3800" b="1">
                <a:solidFill>
                  <a:srgbClr val="C8A96E"/>
                </a:solidFill>
                <a:latin typeface="Georgia"/>
              </a:rPr>
              <a:t>€104</a:t>
            </a:r>
            <a:r>
              <a:rPr sz="1400">
                <a:solidFill>
                  <a:srgbClr val="B0C4CC"/>
                </a:solidFill>
                <a:latin typeface="Calibri"/>
              </a:rPr>
              <a:t> /mo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B0C4CC"/>
                </a:solidFill>
                <a:latin typeface="Calibri"/>
              </a:rPr>
              <a:t>€1,247.90 / yr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Up to 2 locations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B0C4CC"/>
                </a:solidFill>
                <a:latin typeface="Calibri"/>
              </a:rPr>
              <a:t>or €129.99/mo monthly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All DineEase features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Reservations &amp; waitlist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Floorplan calendar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Customer app listing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331720"/>
            <a:ext cx="2606040" cy="370332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2743200"/>
            <a:ext cx="214884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Group</a:t>
            </a:r>
          </a:p>
          <a:p>
            <a:pPr algn="ctr">
              <a:spcAft>
                <a:spcPts val="0"/>
              </a:spcAft>
            </a:pPr>
            <a:r>
              <a:rPr sz="3800" b="1">
                <a:solidFill>
                  <a:srgbClr val="C8A96E"/>
                </a:solidFill>
                <a:latin typeface="Georgia"/>
              </a:rPr>
              <a:t>€144</a:t>
            </a:r>
            <a:r>
              <a:rPr sz="1400">
                <a:solidFill>
                  <a:srgbClr val="B0C4CC"/>
                </a:solidFill>
                <a:latin typeface="Calibri"/>
              </a:rPr>
              <a:t> /mo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B0C4CC"/>
                </a:solidFill>
                <a:latin typeface="Calibri"/>
              </a:rPr>
              <a:t>€1,727.90 / yr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Up to 3 locations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B0C4CC"/>
                </a:solidFill>
                <a:latin typeface="Calibri"/>
              </a:rPr>
              <a:t>or €179.99/mo monthly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All DineEase features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Reservations &amp; waitlist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Floorplan calendar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Customer app listing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13367" y="2331720"/>
            <a:ext cx="2606040" cy="370332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1967" y="2743200"/>
            <a:ext cx="214884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Portfolio</a:t>
            </a:r>
          </a:p>
          <a:p>
            <a:pPr algn="ctr">
              <a:spcAft>
                <a:spcPts val="0"/>
              </a:spcAft>
            </a:pPr>
            <a:r>
              <a:rPr sz="3800" b="1">
                <a:solidFill>
                  <a:srgbClr val="C8A96E"/>
                </a:solidFill>
                <a:latin typeface="Georgia"/>
              </a:rPr>
              <a:t>€200</a:t>
            </a:r>
            <a:r>
              <a:rPr sz="1400">
                <a:solidFill>
                  <a:srgbClr val="B0C4CC"/>
                </a:solidFill>
                <a:latin typeface="Calibri"/>
              </a:rPr>
              <a:t> /mo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B0C4CC"/>
                </a:solidFill>
                <a:latin typeface="Calibri"/>
              </a:rPr>
              <a:t>€2,399.90 / yr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4–5 locations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B0C4CC"/>
                </a:solidFill>
                <a:latin typeface="Calibri"/>
              </a:rPr>
              <a:t>or €249.99/mo monthly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All DineEase features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Reservations &amp; waitlist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Floorplan calendar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4F1EC"/>
                </a:solidFill>
                <a:latin typeface="Calibri"/>
              </a:rPr>
              <a:t>Customer app listing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HOW WE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Built for Cyprus restaurants — not the other way round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908792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4872"/>
                <a:gridCol w="1700784"/>
                <a:gridCol w="1700784"/>
                <a:gridCol w="1700784"/>
                <a:gridCol w="1700784"/>
                <a:gridCol w="1700784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F2D40"/>
                          </a:solidFill>
                          <a:latin typeface="Georgia"/>
                        </a:rPr>
                        <a:t>DineEase</a:t>
                      </a:r>
                    </a:p>
                  </a:txBody>
                  <a:tcPr marL="91440" marR="54864" marT="18288" marB="18288" anchor="ctr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Eat App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OpenTable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TheFork / Quandoo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Klisto (CY)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Pricing model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2D40"/>
                          </a:solidFill>
                          <a:latin typeface="Calibri"/>
                        </a:rPr>
                        <a:t>Flat subscription</a:t>
                      </a:r>
                    </a:p>
                  </a:txBody>
                  <a:tcPr marL="91440" marR="54864" marT="18288" marB="18288" anchor="ctr">
                    <a:solidFill>
                      <a:srgbClr val="C8A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Flat subscription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Subscription + fees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Commission per cover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Marketplace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Per-cover commission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2D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91440" marR="54864" marT="18288" marB="18288" anchor="ctr">
                    <a:solidFill>
                      <a:srgbClr val="C8A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$1–1.50 / cover*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~€2.60 / guest*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Restaurant-specialised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2D4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C8A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Multi-vertical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 customer app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2D4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C8A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Cyprus-focused &amp; EUR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2D40"/>
                          </a:solidFill>
                          <a:latin typeface="Calibri"/>
                        </a:rPr>
                        <a:t>Yes — VAT incl.</a:t>
                      </a:r>
                    </a:p>
                  </a:txBody>
                  <a:tcPr marL="91440" marR="54864" marT="18288" marB="18288" anchor="ctr">
                    <a:solidFill>
                      <a:srgbClr val="C8A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No (USD)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No (USD)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Limited in CY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as you grow</a:t>
                      </a:r>
                    </a:p>
                  </a:txBody>
                  <a:tcPr marL="91440" marR="54864" marT="18288" marB="18288" anchor="ctr">
                    <a:solidFill>
                      <a:srgbClr val="0F2D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2D40"/>
                          </a:solidFill>
                          <a:latin typeface="Calibri"/>
                        </a:rPr>
                        <a:t>Stays flat</a:t>
                      </a:r>
                    </a:p>
                  </a:txBody>
                  <a:tcPr marL="91440" marR="54864" marT="18288" marB="18288" anchor="ctr">
                    <a:solidFill>
                      <a:srgbClr val="C8A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Stays flat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Rises per cover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Rises per cover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B0C4CC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 marL="91440" marR="54864" marT="18288" marB="18288" anchor="ctr">
                    <a:solidFill>
                      <a:srgbClr val="163A5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0C4CC"/>
                </a:solidFill>
                <a:latin typeface="Calibri"/>
              </a:rPr>
              <a:t>*Competitor pricing from public sources, mid-2026, indicative. OpenTable / TheFork charge per seated guest, so cost rises with every booking.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OUR CLOSEST COMPETITOR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DineEase vs Eat App — same idea, built for Cyprus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A96E"/>
                </a:solidFill>
                <a:latin typeface="Calibri"/>
              </a:rPr>
              <a:t>Both are flat-fee and commission-free. The difference is how you're priced — and who fills your tables.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486400" cy="3154680"/>
          </a:xfrm>
          <a:prstGeom prst="rect">
            <a:avLst/>
          </a:prstGeom>
          <a:solidFill>
            <a:srgbClr val="14435E"/>
          </a:solidFill>
          <a:ln w="254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9377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8A96E"/>
                </a:solidFill>
                <a:latin typeface="Calibri"/>
              </a:rPr>
              <a:t>DINEEASE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F4F1EC"/>
                </a:solidFill>
                <a:latin typeface="Calibri"/>
              </a:rPr>
              <a:t>Priced per location · covers never capped · EUR, VAT incl.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Essentials  </a:t>
            </a:r>
            <a:r>
              <a:rPr sz="1500" b="1">
                <a:solidFill>
                  <a:srgbClr val="C8A96E"/>
                </a:solidFill>
                <a:latin typeface="Georgia"/>
              </a:rPr>
              <a:t>€60/mo</a:t>
            </a:r>
            <a:r>
              <a:rPr sz="1250">
                <a:solidFill>
                  <a:srgbClr val="B0C4CC"/>
                </a:solidFill>
                <a:latin typeface="Calibri"/>
              </a:rPr>
              <a:t>   ·  1 location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Duo  </a:t>
            </a:r>
            <a:r>
              <a:rPr sz="1500" b="1">
                <a:solidFill>
                  <a:srgbClr val="C8A96E"/>
                </a:solidFill>
                <a:latin typeface="Georgia"/>
              </a:rPr>
              <a:t>€104/mo</a:t>
            </a:r>
            <a:r>
              <a:rPr sz="1250">
                <a:solidFill>
                  <a:srgbClr val="B0C4CC"/>
                </a:solidFill>
                <a:latin typeface="Calibri"/>
              </a:rPr>
              <a:t>   ·  up to 2 locations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Group  </a:t>
            </a:r>
            <a:r>
              <a:rPr sz="1500" b="1">
                <a:solidFill>
                  <a:srgbClr val="C8A96E"/>
                </a:solidFill>
                <a:latin typeface="Georgia"/>
              </a:rPr>
              <a:t>€144/mo</a:t>
            </a:r>
            <a:r>
              <a:rPr sz="1250">
                <a:solidFill>
                  <a:srgbClr val="B0C4CC"/>
                </a:solidFill>
                <a:latin typeface="Calibri"/>
              </a:rPr>
              <a:t>   ·  up to 3 locations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Portfolio  </a:t>
            </a:r>
            <a:r>
              <a:rPr sz="1500" b="1">
                <a:solidFill>
                  <a:srgbClr val="C8A96E"/>
                </a:solidFill>
                <a:latin typeface="Georgia"/>
              </a:rPr>
              <a:t>€200/mo</a:t>
            </a:r>
            <a:r>
              <a:rPr sz="1250">
                <a:solidFill>
                  <a:srgbClr val="B0C4CC"/>
                </a:solidFill>
                <a:latin typeface="Calibri"/>
              </a:rPr>
              <a:t>   ·  4–5 locations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0" i="0">
                <a:solidFill>
                  <a:srgbClr val="C8A96E"/>
                </a:solidFill>
                <a:latin typeface="Calibri"/>
              </a:rPr>
              <a:t>+ your venue in the DineEase consumer app for Cyprus diners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240280"/>
            <a:ext cx="5212080" cy="3154680"/>
          </a:xfrm>
          <a:prstGeom prst="rect">
            <a:avLst/>
          </a:prstGeom>
          <a:solidFill>
            <a:srgbClr val="163A52"/>
          </a:solidFill>
          <a:ln w="127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6634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B0C4CC"/>
                </a:solidFill>
                <a:latin typeface="Calibri"/>
              </a:rPr>
              <a:t>EAT APP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B0C4CC"/>
                </a:solidFill>
                <a:latin typeface="Calibri"/>
              </a:rPr>
              <a:t>Priced by covers &amp; add-ons · USD · no local diner audience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Free  </a:t>
            </a:r>
            <a:r>
              <a:rPr sz="1500" b="1">
                <a:solidFill>
                  <a:srgbClr val="F4F1EC"/>
                </a:solidFill>
                <a:latin typeface="Georgia"/>
              </a:rPr>
              <a:t>$0/mo</a:t>
            </a:r>
            <a:r>
              <a:rPr sz="1250">
                <a:solidFill>
                  <a:srgbClr val="B0C4CC"/>
                </a:solidFill>
                <a:latin typeface="Calibri"/>
              </a:rPr>
              <a:t>   ·  up to 100 covers/mo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Starter  </a:t>
            </a:r>
            <a:r>
              <a:rPr sz="1500" b="1">
                <a:solidFill>
                  <a:srgbClr val="F4F1EC"/>
                </a:solidFill>
                <a:latin typeface="Georgia"/>
              </a:rPr>
              <a:t>$48/mo</a:t>
            </a:r>
            <a:r>
              <a:rPr sz="1250">
                <a:solidFill>
                  <a:srgbClr val="B0C4CC"/>
                </a:solidFill>
                <a:latin typeface="Calibri"/>
              </a:rPr>
              <a:t>   ·  up to 300 covers/mo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Essential  </a:t>
            </a:r>
            <a:r>
              <a:rPr sz="1500" b="1">
                <a:solidFill>
                  <a:srgbClr val="F4F1EC"/>
                </a:solidFill>
                <a:latin typeface="Georgia"/>
              </a:rPr>
              <a:t>$111/mo</a:t>
            </a:r>
            <a:r>
              <a:rPr sz="1250">
                <a:solidFill>
                  <a:srgbClr val="B0C4CC"/>
                </a:solidFill>
                <a:latin typeface="Calibri"/>
              </a:rPr>
              <a:t>   ·  unlimited covers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  </a:t>
            </a:r>
            <a:r>
              <a:rPr sz="1500" b="1">
                <a:solidFill>
                  <a:srgbClr val="F4F1EC"/>
                </a:solidFill>
                <a:latin typeface="Georgia"/>
              </a:rPr>
              <a:t>$209/mo</a:t>
            </a:r>
            <a:r>
              <a:rPr sz="1250">
                <a:solidFill>
                  <a:srgbClr val="B0C4CC"/>
                </a:solidFill>
                <a:latin typeface="Calibri"/>
              </a:rPr>
              <a:t>   ·  unlimited covers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0" i="0">
                <a:solidFill>
                  <a:srgbClr val="B0C4CC"/>
                </a:solidFill>
                <a:latin typeface="Calibri"/>
              </a:rPr>
              <a:t>Reservation software only — you fill the tables yourself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927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C"/>
                </a:solidFill>
                <a:latin typeface="Calibri"/>
              </a:rPr>
              <a:t>Takeaway:  Eat App caps covers on cheaper plans, prices in USD, and bills $19–$39/mo add-ons for waitlist, CRM &amp; reports — even on its recommended plan. DineEase includes every feature in each tier, priced per location in EUR (VAT incl.), and sends Cyprus diners your 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B0C4CC"/>
                </a:solidFill>
                <a:latin typeface="Calibri"/>
              </a:rPr>
              <a:t>Eat App prices: yearly billing (30% off), per restaurant.eatapp.co,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THE COST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Flat beats commission as you get busy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82296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8A96E"/>
                </a:solidFill>
                <a:latin typeface="Calibri"/>
              </a:rPr>
              <a:t>Example: a restaurant seating 1,000 booked covers in a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2834640"/>
            <a:ext cx="3383280" cy="2651760"/>
          </a:xfrm>
          <a:prstGeom prst="rect">
            <a:avLst/>
          </a:prstGeom>
          <a:solidFill>
            <a:srgbClr val="163A52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447" y="2834640"/>
            <a:ext cx="338328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767" y="3200400"/>
            <a:ext cx="2834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Commission platform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≈ €2,600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B0C4CC"/>
                </a:solidFill>
                <a:latin typeface="Calibri"/>
              </a:rPr>
              <a:t>/month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0C4CC"/>
                </a:solidFill>
                <a:latin typeface="Calibri"/>
              </a:rPr>
              <a:t>at ~€2.60 per guest, every month — and it climbs as you grow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4207" y="2834640"/>
            <a:ext cx="3383280" cy="2651760"/>
          </a:xfrm>
          <a:prstGeom prst="rect">
            <a:avLst/>
          </a:prstGeom>
          <a:solidFill>
            <a:srgbClr val="163A52"/>
          </a:solidFill>
          <a:ln w="25400">
            <a:solidFill>
              <a:srgbClr val="1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207" y="2834640"/>
            <a:ext cx="3383280" cy="109728"/>
          </a:xfrm>
          <a:prstGeom prst="rect">
            <a:avLst/>
          </a:prstGeom>
          <a:solidFill>
            <a:srgbClr val="1A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8527" y="3200400"/>
            <a:ext cx="2834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OpenTable-style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€140 + fees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B0C4CC"/>
                </a:solidFill>
                <a:latin typeface="Calibri"/>
              </a:rPr>
              <a:t>/month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0C4CC"/>
                </a:solidFill>
                <a:latin typeface="Calibri"/>
              </a:rPr>
              <a:t>subscription plus $1–1.50 for every network 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8967" y="2834640"/>
            <a:ext cx="3383280" cy="2651760"/>
          </a:xfrm>
          <a:prstGeom prst="rect">
            <a:avLst/>
          </a:prstGeom>
          <a:solidFill>
            <a:srgbClr val="163A52"/>
          </a:solidFill>
          <a:ln w="254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8967" y="2834640"/>
            <a:ext cx="3383280" cy="1097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3287" y="3200400"/>
            <a:ext cx="2834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DineEase Duo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8A96E"/>
                </a:solidFill>
                <a:latin typeface="Georgia"/>
              </a:rPr>
              <a:t>€104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B0C4CC"/>
                </a:solidFill>
                <a:latin typeface="Calibri"/>
              </a:rPr>
              <a:t>/month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0C4CC"/>
                </a:solidFill>
                <a:latin typeface="Calibri"/>
              </a:rPr>
              <a:t>flat — VAT included, no per-cover fee, no matter how busy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C"/>
                </a:solidFill>
                <a:latin typeface="Calibri"/>
              </a:rPr>
              <a:t>With DineEase your cost is predictable. The more diners we send you, the more you save versus commission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96E"/>
                </a:solidFill>
                <a:latin typeface="Calibri"/>
              </a:rPr>
              <a:t>WHY DINEEASE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The local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82296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5257800" cy="1783080"/>
          </a:xfrm>
          <a:prstGeom prst="rect">
            <a:avLst/>
          </a:prstGeom>
          <a:solidFill>
            <a:srgbClr val="0F2D40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4617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C8A96E"/>
                </a:solidFill>
                <a:latin typeface="Georgia"/>
              </a:rPr>
              <a:t>🇨🇾  Made for Cyprus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4F1EC"/>
                </a:solidFill>
                <a:latin typeface="Calibri"/>
              </a:rPr>
              <a:t>Local team, EUR pricing with VAT included, and support that knows your market.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40280"/>
            <a:ext cx="5257800" cy="1783080"/>
          </a:xfrm>
          <a:prstGeom prst="rect">
            <a:avLst/>
          </a:prstGeom>
          <a:solidFill>
            <a:srgbClr val="0F2D40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514600"/>
            <a:ext cx="4617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C8A96E"/>
                </a:solidFill>
                <a:latin typeface="Georgia"/>
              </a:rPr>
              <a:t>🚫  Zero commission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4F1EC"/>
                </a:solidFill>
                <a:latin typeface="Calibri"/>
              </a:rPr>
              <a:t>A flat monthly fee — we never take a cut of your covers or your revenue.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51960"/>
            <a:ext cx="5257800" cy="1783080"/>
          </a:xfrm>
          <a:prstGeom prst="rect">
            <a:avLst/>
          </a:prstGeom>
          <a:solidFill>
            <a:srgbClr val="0F2D40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526280"/>
            <a:ext cx="4617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C8A96E"/>
                </a:solidFill>
                <a:latin typeface="Georgia"/>
              </a:rPr>
              <a:t>🤝  You own your guests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4F1EC"/>
                </a:solidFill>
                <a:latin typeface="Calibri"/>
              </a:rPr>
              <a:t>Your customer data and relationships stay yours, to bring diners 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251960"/>
            <a:ext cx="5257800" cy="1783080"/>
          </a:xfrm>
          <a:prstGeom prst="rect">
            <a:avLst/>
          </a:prstGeom>
          <a:solidFill>
            <a:srgbClr val="0F2D40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526280"/>
            <a:ext cx="4617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C8A96E"/>
                </a:solidFill>
                <a:latin typeface="Georgia"/>
              </a:rPr>
              <a:t>📈  Scales with you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4F1EC"/>
                </a:solidFill>
                <a:latin typeface="Calibri"/>
              </a:rPr>
              <a:t>From a single bistro to a five-venue group, on one account and one bill.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C4CC"/>
                </a:solidFill>
                <a:latin typeface="Calibri"/>
              </a:rPr>
              <a:t>DineEase  ·  Partner Overview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463040"/>
            <a:ext cx="9601200" cy="4023360"/>
          </a:xfrm>
          <a:prstGeom prst="roundRect">
            <a:avLst/>
          </a:prstGeom>
          <a:solidFill>
            <a:srgbClr val="14435E"/>
          </a:solidFill>
          <a:ln w="1905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Ready to fill more tables?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06324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F1EC"/>
                </a:solidFill>
                <a:latin typeface="Calibri"/>
              </a:rPr>
              <a:t>Start with Essentials from €60/mo, or pick the plan that fits your group. No commission, no surprises — VAT included.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4160520"/>
            <a:ext cx="2926080" cy="685800"/>
          </a:xfrm>
          <a:prstGeom prst="round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D40"/>
                </a:solidFill>
                <a:latin typeface="Calibri"/>
              </a:rPr>
              <a:t>Get started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8A96E"/>
                </a:solidFill>
                <a:latin typeface="Calibri"/>
              </a:rPr>
              <a:t>dineeaseapp.com   ·   Find. Book. Enjoy.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